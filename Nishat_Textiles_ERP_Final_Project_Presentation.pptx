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clarify that it is an ERP solution design and analytics proposal for Nishat Textiles.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project direction is from fragmented legacy workflows to a unified Odoo ERP operating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these are business process problems, not only IT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Odoo is selected and why Shopify integration must be treated as a managed connector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the six modules work together as one ERP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manual As-Is process with the integrated To-Be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ERD is a logical model for shared master data and analytics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KPI dashboard as management decision support, not decoration.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lifecycle and justify phased rollout over big bang migration.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data quality, user adoption and integration governance as the main risk areas.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practical recommendations in priority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main message: ERP success is measured by improved process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A"/>
          </a:solidFill>
          <a:ln w="12700">
            <a:solidFill>
              <a:srgbClr val="0B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3A64A"/>
          </a:solidFill>
          <a:ln w="12700">
            <a:solidFill>
              <a:srgbClr val="D3A64A"/>
            </a:solidFill>
            <a:prstDash val="solid"/>
          </a:ln>
        </p:spPr>
      </p:sp>
      <p:pic>
        <p:nvPicPr>
          <p:cNvPr id="4" name="Image 0" descr="/mnt/data/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94360"/>
            <a:ext cx="1234440" cy="1234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196596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1F7A76"/>
          </a:solidFill>
          <a:ln w="12700">
            <a:solidFill>
              <a:srgbClr val="1F7A76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96112" y="2016252"/>
            <a:ext cx="1408176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ERP FINAL PROJECT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22960" y="2331720"/>
            <a:ext cx="6080760" cy="1143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ERP Solution Design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Business Analytics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841248" y="3611880"/>
            <a:ext cx="4389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3A64A"/>
                </a:solidFill>
              </a:rPr>
              <a:t>Nishat Textiles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41248" y="4069080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C5D1DD"/>
                </a:solidFill>
              </a:rPr>
              <a:t>Integrated Odoo ERP proposal for manufacturing, retail, supply chain and analytics.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52360" y="777240"/>
            <a:ext cx="3794760" cy="4709160"/>
          </a:xfrm>
          <a:prstGeom prst="roundRect">
            <a:avLst>
              <a:gd name="adj" fmla="val 3373"/>
            </a:avLst>
          </a:prstGeom>
          <a:solidFill>
            <a:srgbClr val="17334E"/>
          </a:solidFill>
          <a:ln w="12700">
            <a:solidFill>
              <a:srgbClr val="2A496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18120" y="1234440"/>
            <a:ext cx="150876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1353312"/>
            <a:ext cx="1234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3A64A"/>
                </a:solidFill>
              </a:rPr>
              <a:t>6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955280" y="170992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Core ERP modules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9372600" y="1234440"/>
            <a:ext cx="150876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09760" y="1353312"/>
            <a:ext cx="1234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9C95"/>
                </a:solidFill>
              </a:rPr>
              <a:t>10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509760" y="170992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Report sections covered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7818120" y="2331720"/>
            <a:ext cx="150876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0" y="2450592"/>
            <a:ext cx="1234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9C95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955280" y="280720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Implementation phases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9372600" y="2331720"/>
            <a:ext cx="1508760" cy="87782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09760" y="2450592"/>
            <a:ext cx="1234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3A64A"/>
                </a:solidFill>
              </a:rPr>
              <a:t>1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509760" y="280720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Single source of truth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7818120" y="3886200"/>
            <a:ext cx="3063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Submitted by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 Ali Irtza 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818120" y="4645152"/>
            <a:ext cx="3063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5D1DD"/>
                </a:solidFill>
              </a:rPr>
              <a:t>Submitted to: Ma’am Madiha Kanwal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6446520"/>
            <a:ext cx="11320272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680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Direction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Moving from fragmented legacy operations to controlled ERP integration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383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Nishat Textiles ERP Final Project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3063240" cy="361188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3063240" cy="1463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173736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63B"/>
                </a:solidFill>
              </a:rPr>
              <a:t>Current state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14984" y="2395728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16152" y="229514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D2939"/>
                </a:solidFill>
              </a:rPr>
              <a:t>Oracle 10g + separate storefront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1014984" y="2962656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16152" y="286207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D2939"/>
                </a:solidFill>
              </a:rPr>
              <a:t>Manual reconciliation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1014984" y="3529584"/>
            <a:ext cx="109728" cy="10972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16152" y="34290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D2939"/>
                </a:solidFill>
              </a:rPr>
              <a:t>Delayed reporting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4434840" y="1417320"/>
            <a:ext cx="3063240" cy="361188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417320"/>
            <a:ext cx="3063240" cy="146304"/>
          </a:xfrm>
          <a:prstGeom prst="rect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173736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63B"/>
                </a:solidFill>
              </a:rPr>
              <a:t>ERP redesign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64024" y="2395728"/>
            <a:ext cx="109728" cy="109728"/>
          </a:xfrm>
          <a:prstGeom prst="ellipse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229514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D2939"/>
                </a:solidFill>
              </a:rPr>
              <a:t>Odoo modules + API connector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4764024" y="2962656"/>
            <a:ext cx="109728" cy="109728"/>
          </a:xfrm>
          <a:prstGeom prst="ellipse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286207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D2939"/>
                </a:solidFill>
              </a:rPr>
              <a:t>Shared master data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4764024" y="3529584"/>
            <a:ext cx="109728" cy="109728"/>
          </a:xfrm>
          <a:prstGeom prst="ellipse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34290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D2939"/>
                </a:solidFill>
              </a:rPr>
              <a:t>Workflow-based fulfilment</a:t>
            </a:r>
            <a:endParaRPr lang="en-US" sz="1230" dirty="0"/>
          </a:p>
        </p:txBody>
      </p:sp>
      <p:sp>
        <p:nvSpPr>
          <p:cNvPr id="26" name="Shape 24"/>
          <p:cNvSpPr/>
          <p:nvPr/>
        </p:nvSpPr>
        <p:spPr>
          <a:xfrm>
            <a:off x="8183880" y="1417320"/>
            <a:ext cx="3063240" cy="3611880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1417320"/>
            <a:ext cx="3063240" cy="146304"/>
          </a:xfrm>
          <a:prstGeom prst="rect">
            <a:avLst/>
          </a:prstGeom>
          <a:solidFill>
            <a:srgbClr val="D3A64A"/>
          </a:solidFill>
          <a:ln w="12700">
            <a:solidFill>
              <a:srgbClr val="D3A6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85048" y="173736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263B"/>
                </a:solidFill>
              </a:rPr>
              <a:t>Business outcome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513064" y="2395728"/>
            <a:ext cx="109728" cy="109728"/>
          </a:xfrm>
          <a:prstGeom prst="ellipse">
            <a:avLst/>
          </a:prstGeom>
          <a:solidFill>
            <a:srgbClr val="D3A64A"/>
          </a:solidFill>
          <a:ln w="12700">
            <a:solidFill>
              <a:srgbClr val="D3A6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14232" y="2295144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D2939"/>
                </a:solidFill>
              </a:rPr>
              <a:t>Cleaner stock visibility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8513064" y="2962656"/>
            <a:ext cx="109728" cy="109728"/>
          </a:xfrm>
          <a:prstGeom prst="ellipse">
            <a:avLst/>
          </a:prstGeom>
          <a:solidFill>
            <a:srgbClr val="D3A64A"/>
          </a:solidFill>
          <a:ln w="12700">
            <a:solidFill>
              <a:srgbClr val="D3A6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14232" y="286207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D2939"/>
                </a:solidFill>
              </a:rPr>
              <a:t>Faster management decisions</a:t>
            </a:r>
            <a:endParaRPr lang="en-US" sz="1230" dirty="0"/>
          </a:p>
        </p:txBody>
      </p:sp>
      <p:sp>
        <p:nvSpPr>
          <p:cNvPr id="33" name="Shape 31"/>
          <p:cNvSpPr/>
          <p:nvPr/>
        </p:nvSpPr>
        <p:spPr>
          <a:xfrm>
            <a:off x="8513064" y="3529584"/>
            <a:ext cx="109728" cy="109728"/>
          </a:xfrm>
          <a:prstGeom prst="ellipse">
            <a:avLst/>
          </a:prstGeom>
          <a:solidFill>
            <a:srgbClr val="D3A64A"/>
          </a:solidFill>
          <a:ln w="12700">
            <a:solidFill>
              <a:srgbClr val="D3A6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14232" y="342900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D2939"/>
                </a:solidFill>
              </a:rPr>
              <a:t>Lower rework and refund risk</a:t>
            </a:r>
            <a:endParaRPr lang="en-US" sz="1230" dirty="0"/>
          </a:p>
        </p:txBody>
      </p:sp>
      <p:sp>
        <p:nvSpPr>
          <p:cNvPr id="35" name="Shape 33"/>
          <p:cNvSpPr/>
          <p:nvPr/>
        </p:nvSpPr>
        <p:spPr>
          <a:xfrm>
            <a:off x="3822192" y="3172968"/>
            <a:ext cx="429768" cy="0"/>
          </a:xfrm>
          <a:prstGeom prst="line">
            <a:avLst/>
          </a:prstGeom>
          <a:noFill/>
          <a:ln w="17780">
            <a:solidFill>
              <a:srgbClr val="1F7A76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571232" y="3172968"/>
            <a:ext cx="429768" cy="0"/>
          </a:xfrm>
          <a:prstGeom prst="line">
            <a:avLst/>
          </a:prstGeom>
          <a:noFill/>
          <a:ln w="17780">
            <a:solidFill>
              <a:srgbClr val="1F7A76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51560" y="5559552"/>
            <a:ext cx="10104120" cy="429768"/>
          </a:xfrm>
          <a:prstGeom prst="roundRect">
            <a:avLst>
              <a:gd name="adj" fmla="val 19149"/>
            </a:avLst>
          </a:prstGeom>
          <a:solidFill>
            <a:srgbClr val="EAF2F4"/>
          </a:solidFill>
          <a:ln w="12700">
            <a:solidFill>
              <a:srgbClr val="C8D9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34440" y="5678424"/>
            <a:ext cx="9738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63B"/>
                </a:solidFill>
              </a:rPr>
              <a:t>Core idea: the ERP is not only software replacement — it is end-to-end process control.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6446520"/>
            <a:ext cx="11320272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680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System Problems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 existing weakness is fragmentation across systems, data and decisions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383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Nishat Textiles ERP Final Project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713232" y="1417320"/>
            <a:ext cx="31546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17320"/>
            <a:ext cx="73152" cy="1078992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54533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3263B"/>
                </a:solidFill>
              </a:rPr>
              <a:t>Lack of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85623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Sales, stock and finance remain separated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489704" y="1417320"/>
            <a:ext cx="31546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9704" y="1417320"/>
            <a:ext cx="73152" cy="1078992"/>
          </a:xfrm>
          <a:prstGeom prst="rect">
            <a:avLst/>
          </a:prstGeom>
          <a:solidFill>
            <a:srgbClr val="D3A64A"/>
          </a:solidFill>
          <a:ln w="12700">
            <a:solidFill>
              <a:srgbClr val="D3A6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154533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3263B"/>
                </a:solidFill>
              </a:rPr>
              <a:t>Inventory mismatch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90872" y="185623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Online availability does not reflect warehouse reality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266176" y="1417320"/>
            <a:ext cx="31546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1417320"/>
            <a:ext cx="73152" cy="1078992"/>
          </a:xfrm>
          <a:prstGeom prst="rect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67344" y="154533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3263B"/>
                </a:solidFill>
              </a:rPr>
              <a:t>Duplicate entry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67344" y="185623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Orders require manual transfer and rework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713232" y="3017520"/>
            <a:ext cx="31546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017520"/>
            <a:ext cx="73152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314553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3263B"/>
                </a:solidFill>
              </a:rPr>
              <a:t>Delayed reports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45643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Excel consolidation slows decision-making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489704" y="3017520"/>
            <a:ext cx="31546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9704" y="3017520"/>
            <a:ext cx="73152" cy="1078992"/>
          </a:xfrm>
          <a:prstGeom prst="rect">
            <a:avLst/>
          </a:prstGeom>
          <a:solidFill>
            <a:srgbClr val="13263B"/>
          </a:solidFill>
          <a:ln w="12700">
            <a:solidFill>
              <a:srgbClr val="1326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3145536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3263B"/>
                </a:solidFill>
              </a:rPr>
              <a:t>Poor communication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90872" y="3456432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Teams rely on handoffs and exception lists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8183880" y="4407408"/>
            <a:ext cx="3200400" cy="676656"/>
          </a:xfrm>
          <a:prstGeom prst="roundRect">
            <a:avLst>
              <a:gd name="adj" fmla="val 17568"/>
            </a:avLst>
          </a:prstGeom>
          <a:solidFill>
            <a:srgbClr val="FFF3F2"/>
          </a:solidFill>
          <a:ln w="12700">
            <a:solidFill>
              <a:srgbClr val="F3B8B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94192" y="4526280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2318"/>
                </a:solidFill>
              </a:rPr>
              <a:t>Main risk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0" y="4471416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1D2939"/>
                </a:solidFill>
              </a:rPr>
              <a:t>Different departments act on different versions of the same transaction.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731520" y="466344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3B"/>
                </a:solidFill>
              </a:rPr>
              <a:t>Why it matters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77240" y="5148072"/>
            <a:ext cx="91440" cy="91440"/>
          </a:xfrm>
          <a:prstGeom prst="ellipse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6696" y="5074920"/>
            <a:ext cx="6455664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D2939"/>
                </a:solidFill>
              </a:rPr>
              <a:t>Stockouts become customer-facing failures</a:t>
            </a:r>
            <a:endParaRPr lang="en-US" sz="1280" dirty="0"/>
          </a:p>
        </p:txBody>
      </p:sp>
      <p:sp>
        <p:nvSpPr>
          <p:cNvPr id="34" name="Shape 32"/>
          <p:cNvSpPr/>
          <p:nvPr/>
        </p:nvSpPr>
        <p:spPr>
          <a:xfrm>
            <a:off x="777240" y="5632704"/>
            <a:ext cx="91440" cy="91440"/>
          </a:xfrm>
          <a:prstGeom prst="ellipse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6696" y="5559552"/>
            <a:ext cx="6455664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D2939"/>
                </a:solidFill>
              </a:rPr>
              <a:t>Reports become retrospective instead of operational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777240" y="6117336"/>
            <a:ext cx="91440" cy="91440"/>
          </a:xfrm>
          <a:prstGeom prst="ellipse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6696" y="6044184"/>
            <a:ext cx="6455664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1D2939"/>
                </a:solidFill>
              </a:rPr>
              <a:t>Manual work hides the real process cost</a:t>
            </a:r>
            <a:endParaRPr lang="en-US" sz="1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6446520"/>
            <a:ext cx="11320272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680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ERP Solution Design: Odoo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Selected for modular ERP coverage, manufacturing fit and integration flexibility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383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Nishat Textiles ERP Final Project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103120" y="2880360"/>
            <a:ext cx="1783080" cy="0"/>
          </a:xfrm>
          <a:prstGeom prst="line">
            <a:avLst/>
          </a:prstGeom>
          <a:noFill/>
          <a:ln w="17780">
            <a:solidFill>
              <a:srgbClr val="A9B6C3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394960" y="2880360"/>
            <a:ext cx="1783080" cy="0"/>
          </a:xfrm>
          <a:prstGeom prst="line">
            <a:avLst/>
          </a:prstGeom>
          <a:noFill/>
          <a:ln w="17780">
            <a:solidFill>
              <a:srgbClr val="A9B6C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" y="233172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EEF5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404872"/>
            <a:ext cx="2039112" cy="9509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3263B"/>
                </a:solidFill>
              </a:rPr>
              <a:t>Shopify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3263B"/>
                </a:solidFill>
              </a:rPr>
              <a:t>Storefront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794760" y="233172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EAF8F7"/>
          </a:solidFill>
          <a:ln w="13970">
            <a:solidFill>
              <a:srgbClr val="1F7A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9624" y="2404872"/>
            <a:ext cx="2039112" cy="9509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3263B"/>
                </a:solidFill>
              </a:rPr>
              <a:t>API / Connector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3263B"/>
                </a:solidFill>
              </a:rPr>
              <a:t>Validation Layer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858000" y="233172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8E6"/>
          </a:solidFill>
          <a:ln w="13970">
            <a:solidFill>
              <a:srgbClr val="D3A6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2404872"/>
            <a:ext cx="2039112" cy="9509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3263B"/>
                </a:solidFill>
              </a:rPr>
              <a:t>Odoo ERP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3263B"/>
                </a:solidFill>
              </a:rPr>
              <a:t>Shared Workflow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9464040" y="23317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F2F6FA"/>
          </a:solidFill>
          <a:ln w="13970">
            <a:solidFill>
              <a:srgbClr val="1326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18904" y="2404872"/>
            <a:ext cx="1856232" cy="9509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3263B"/>
                </a:solidFill>
              </a:rPr>
              <a:t>ERP Modules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3263B"/>
                </a:solidFill>
              </a:rPr>
              <a:t>+ BI Dashboard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851392" y="2880360"/>
            <a:ext cx="429768" cy="0"/>
          </a:xfrm>
          <a:prstGeom prst="line">
            <a:avLst/>
          </a:prstGeom>
          <a:noFill/>
          <a:ln w="17780">
            <a:solidFill>
              <a:srgbClr val="A9B6C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8680" y="4690872"/>
            <a:ext cx="91440" cy="91440"/>
          </a:xfrm>
          <a:prstGeom prst="ellipse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8136" y="4617720"/>
            <a:ext cx="5038344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D2939"/>
                </a:solidFill>
              </a:rPr>
              <a:t>Integration is treated as a managed connector project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5175504"/>
            <a:ext cx="91440" cy="91440"/>
          </a:xfrm>
          <a:prstGeom prst="ellipse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8136" y="5102352"/>
            <a:ext cx="5038344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D2939"/>
                </a:solidFill>
              </a:rPr>
              <a:t>Modules can be deployed in controlled phases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68680" y="5660136"/>
            <a:ext cx="91440" cy="91440"/>
          </a:xfrm>
          <a:prstGeom prst="ellipse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8136" y="5586984"/>
            <a:ext cx="5038344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D2939"/>
                </a:solidFill>
              </a:rPr>
              <a:t>ERP creates one operational data foundation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4480560"/>
            <a:ext cx="4800600" cy="1051560"/>
          </a:xfrm>
          <a:prstGeom prst="roundRect">
            <a:avLst>
              <a:gd name="adj" fmla="val 10435"/>
            </a:avLst>
          </a:prstGeom>
          <a:solidFill>
            <a:srgbClr val="F7FA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466344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263B"/>
                </a:solidFill>
              </a:rPr>
              <a:t>Critical design principle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48272" y="4983480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F7A76"/>
                </a:solidFill>
              </a:rPr>
              <a:t>Do not recreate old manual workflows inside new software.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6446520"/>
            <a:ext cx="11320272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680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ERP Modules: Integrated Operating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Six required modules work as one connected enterprise system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383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Nishat Textiles ERP Final Project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5257800" y="242316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EAF8F7"/>
          </a:solidFill>
          <a:ln w="13970">
            <a:solidFill>
              <a:srgbClr val="1F7A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12664" y="2496312"/>
            <a:ext cx="1581912" cy="8595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13263B"/>
                </a:solidFill>
              </a:rPr>
              <a:t>Shared ERP</a:t>
            </a:r>
            <a:endParaRPr lang="en-US" sz="92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13263B"/>
                </a:solidFill>
              </a:rPr>
              <a:t>Data Core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868680" y="141732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417320"/>
            <a:ext cx="73152" cy="1005840"/>
          </a:xfrm>
          <a:prstGeom prst="rect">
            <a:avLst/>
          </a:prstGeom>
          <a:solidFill>
            <a:srgbClr val="D3A64A"/>
          </a:solidFill>
          <a:ln w="12700">
            <a:solidFill>
              <a:srgbClr val="D3A6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154533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3263B"/>
                </a:solidFill>
              </a:rPr>
              <a:t>HRM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9848" y="1856232"/>
            <a:ext cx="219456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Attendance • payroll • labour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3749040" y="105156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051560"/>
            <a:ext cx="73152" cy="1005840"/>
          </a:xfrm>
          <a:prstGeom prst="rect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0208" y="117957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3263B"/>
                </a:solidFill>
              </a:rPr>
              <a:t>CRM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50208" y="1490472"/>
            <a:ext cx="219456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Customers • leads • demand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720840" y="105156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0840" y="1051560"/>
            <a:ext cx="73152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117957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3263B"/>
                </a:solidFill>
              </a:rPr>
              <a:t>SCM / MRP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22008" y="1490472"/>
            <a:ext cx="219456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BoM • work centres • production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9418320" y="141732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8320" y="1417320"/>
            <a:ext cx="73152" cy="1005840"/>
          </a:xfrm>
          <a:prstGeom prst="rect">
            <a:avLst/>
          </a:prstGeom>
          <a:solidFill>
            <a:srgbClr val="13263B"/>
          </a:solidFill>
          <a:ln w="12700">
            <a:solidFill>
              <a:srgbClr val="1326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19488" y="154533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3263B"/>
                </a:solidFill>
              </a:rPr>
              <a:t>Finance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19488" y="1856232"/>
            <a:ext cx="219456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Invoices • costing • reports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2240280" y="457200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40280" y="4572000"/>
            <a:ext cx="73152" cy="1005840"/>
          </a:xfrm>
          <a:prstGeom prst="rect">
            <a:avLst/>
          </a:prstGeom>
          <a:solidFill>
            <a:srgbClr val="067647"/>
          </a:solidFill>
          <a:ln w="12700">
            <a:solidFill>
              <a:srgbClr val="0676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41448" y="470001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3263B"/>
                </a:solidFill>
              </a:rPr>
              <a:t>Inventory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41448" y="5010912"/>
            <a:ext cx="219456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Stock moves • routes • barcode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863840" y="4572000"/>
            <a:ext cx="2514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63840" y="4572000"/>
            <a:ext cx="73152" cy="100584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65008" y="470001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3263B"/>
                </a:solidFill>
              </a:rPr>
              <a:t>Procurement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65008" y="5010912"/>
            <a:ext cx="219456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4748B"/>
                </a:solidFill>
              </a:rPr>
              <a:t>POs • suppliers • replenishment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2834640" y="5760720"/>
            <a:ext cx="6492240" cy="384048"/>
          </a:xfrm>
          <a:prstGeom prst="roundRect">
            <a:avLst>
              <a:gd name="adj" fmla="val 21429"/>
            </a:avLst>
          </a:prstGeom>
          <a:solidFill>
            <a:srgbClr val="EAF2F4"/>
          </a:solidFill>
          <a:ln w="12700">
            <a:solidFill>
              <a:srgbClr val="CAD9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35808" y="5870448"/>
            <a:ext cx="61264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3263B"/>
                </a:solidFill>
              </a:rPr>
              <a:t>Value comes from module linkage, not from isolated automation.</a:t>
            </a:r>
            <a:endParaRPr lang="en-US" sz="11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6446520"/>
            <a:ext cx="11320272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680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Process Mapping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Order fulfilment redesigned from manual reconciliation to real-time control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383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Nishat Textiles ERP Final Project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14300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41732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1467612"/>
            <a:ext cx="1271016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AS-IS: MANUAL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629400" y="1417320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1F7A76"/>
          </a:solidFill>
          <a:ln w="12700">
            <a:solidFill>
              <a:srgbClr val="1F7A7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2552" y="1467612"/>
            <a:ext cx="1636776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TO-BE: INTEGRATED</a:t>
            </a:r>
            <a:endParaRPr lang="en-US" sz="750" dirty="0"/>
          </a:p>
        </p:txBody>
      </p:sp>
      <p:pic>
        <p:nvPicPr>
          <p:cNvPr id="14" name="Image 0" descr="/mnt/dat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633" y="1783080"/>
            <a:ext cx="3147822" cy="3611880"/>
          </a:xfrm>
          <a:prstGeom prst="rect">
            <a:avLst/>
          </a:prstGeom>
        </p:spPr>
      </p:pic>
      <p:pic>
        <p:nvPicPr>
          <p:cNvPr id="15" name="Image 1" descr="/mnt/data/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477" y="1783080"/>
            <a:ext cx="3449574" cy="3611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60120" y="5513832"/>
            <a:ext cx="44805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2318"/>
                </a:solidFill>
              </a:rPr>
              <a:t>Delayed stock check • duplicate entry • refund risk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656832" y="5513832"/>
            <a:ext cx="4663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7A76"/>
                </a:solidFill>
              </a:rPr>
              <a:t>Reservation • picking task • accounting update • BI refresh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6446520"/>
            <a:ext cx="11320272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680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Design: Logical ERD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Shared master data enables reliable operations and analytics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383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Nishat Textiles ERP Final Project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594360" y="1143000"/>
            <a:ext cx="713232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pic>
        <p:nvPicPr>
          <p:cNvPr id="9" name="Image 0" descr="/mnt/data/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0922" y="1463040"/>
            <a:ext cx="5993476" cy="3840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37667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3263B"/>
                </a:solidFill>
              </a:rPr>
              <a:t>Product master links sales, purchasing, inventory and production.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01000" y="1298448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63B"/>
                </a:solidFill>
              </a:rPr>
              <a:t>Key relationships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046720" y="1929384"/>
            <a:ext cx="91440" cy="91440"/>
          </a:xfrm>
          <a:prstGeom prst="ellipse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66176" y="1856232"/>
            <a:ext cx="3209544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939"/>
                </a:solidFill>
              </a:rPr>
              <a:t>Customer → Sales Order → Order Line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046720" y="2414016"/>
            <a:ext cx="91440" cy="91440"/>
          </a:xfrm>
          <a:prstGeom prst="ellipse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66176" y="2340864"/>
            <a:ext cx="3209544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939"/>
                </a:solidFill>
              </a:rPr>
              <a:t>Supplier → Purchase Order → PO Line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46720" y="2898648"/>
            <a:ext cx="91440" cy="91440"/>
          </a:xfrm>
          <a:prstGeom prst="ellipse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66176" y="2825496"/>
            <a:ext cx="3209544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939"/>
                </a:solidFill>
              </a:rPr>
              <a:t>Product → Inventory Transaction → Warehouse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46720" y="3383280"/>
            <a:ext cx="91440" cy="91440"/>
          </a:xfrm>
          <a:prstGeom prst="ellipse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66176" y="3310128"/>
            <a:ext cx="3209544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939"/>
                </a:solidFill>
              </a:rPr>
              <a:t>BOM → Manufacturing Order → Work Center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046720" y="3867912"/>
            <a:ext cx="91440" cy="91440"/>
          </a:xfrm>
          <a:prstGeom prst="ellipse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66176" y="3794760"/>
            <a:ext cx="3209544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D2939"/>
                </a:solidFill>
              </a:rPr>
              <a:t>Employee → Attendance → Payslip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092440" y="4892040"/>
            <a:ext cx="3246120" cy="731520"/>
          </a:xfrm>
          <a:prstGeom prst="roundRect">
            <a:avLst>
              <a:gd name="adj" fmla="val 15000"/>
            </a:avLst>
          </a:prstGeom>
          <a:solidFill>
            <a:srgbClr val="FFF8E6"/>
          </a:solidFill>
          <a:ln w="12700">
            <a:solidFill>
              <a:srgbClr val="ECD38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75320" y="5029200"/>
            <a:ext cx="1143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3263B"/>
                </a:solidFill>
              </a:rPr>
              <a:t>Why this matters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75320" y="5294376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1D2939"/>
                </a:solidFill>
              </a:rPr>
              <a:t>Dashboards are only trustworthy when master data is clean.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6446520"/>
            <a:ext cx="11320272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680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Analytics &amp; BI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KPIs are designed around management decisions, not chart volume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383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Nishat Textiles ERP Final Project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530352" y="1170432"/>
            <a:ext cx="690372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pic>
        <p:nvPicPr>
          <p:cNvPr id="9" name="Image 0" descr="/mnt/data/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6181" y="1463040"/>
            <a:ext cx="5162919" cy="4069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37160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EAF8F7"/>
          </a:solidFill>
          <a:ln w="12700">
            <a:solidFill>
              <a:srgbClr val="BFE6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27848" y="153619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63B"/>
                </a:solidFill>
              </a:rPr>
              <a:t>Order fill rate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27848" y="1938528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Service reliability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9784080" y="137160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FFF8E6"/>
          </a:solidFill>
          <a:ln w="12700">
            <a:solidFill>
              <a:srgbClr val="ECD38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93808" y="153619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63B"/>
                </a:solidFill>
              </a:rPr>
              <a:t>Stockout cancellations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893808" y="1938528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Revenue leakage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818120" y="278892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EAF8F7"/>
          </a:solidFill>
          <a:ln w="12700">
            <a:solidFill>
              <a:srgbClr val="BFE6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27848" y="295351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63B"/>
                </a:solidFill>
              </a:rPr>
              <a:t>OEE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927848" y="3355848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Plant efficiency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9784080" y="2788920"/>
            <a:ext cx="1691640" cy="1051560"/>
          </a:xfrm>
          <a:prstGeom prst="roundRect">
            <a:avLst>
              <a:gd name="adj" fmla="val 10435"/>
            </a:avLst>
          </a:prstGeom>
          <a:solidFill>
            <a:srgbClr val="FFF8E6"/>
          </a:solidFill>
          <a:ln w="12700">
            <a:solidFill>
              <a:srgbClr val="ECD38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893808" y="2953512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3263B"/>
                </a:solidFill>
              </a:rPr>
              <a:t>Gross margin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893808" y="3355848"/>
            <a:ext cx="14630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Product profitability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818120" y="4617720"/>
            <a:ext cx="3657600" cy="777240"/>
          </a:xfrm>
          <a:prstGeom prst="roundRect">
            <a:avLst>
              <a:gd name="adj" fmla="val 14118"/>
            </a:avLst>
          </a:prstGeom>
          <a:solidFill>
            <a:srgbClr val="F7FAFC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28432" y="4754880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3263B"/>
                </a:solidFill>
              </a:rPr>
              <a:t>Dashboard rule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028432" y="4983480"/>
            <a:ext cx="3246120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F7A76"/>
                </a:solidFill>
              </a:rPr>
              <a:t>Every KPI must answer a decision question.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6446520"/>
            <a:ext cx="11320272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680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ERP Implementation Lifecycle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 phased rollout protects live operations during migration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09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383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Nishat Textiles ERP Final Project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1901952" y="2468880"/>
            <a:ext cx="448056" cy="0"/>
          </a:xfrm>
          <a:prstGeom prst="line">
            <a:avLst/>
          </a:prstGeom>
          <a:noFill/>
          <a:ln w="17780">
            <a:solidFill>
              <a:srgbClr val="B4C1C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0" y="2468880"/>
            <a:ext cx="448056" cy="0"/>
          </a:xfrm>
          <a:prstGeom prst="line">
            <a:avLst/>
          </a:prstGeom>
          <a:noFill/>
          <a:ln w="17780">
            <a:solidFill>
              <a:srgbClr val="B4C1C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13248" y="2468880"/>
            <a:ext cx="448056" cy="0"/>
          </a:xfrm>
          <a:prstGeom prst="line">
            <a:avLst/>
          </a:prstGeom>
          <a:noFill/>
          <a:ln w="17780">
            <a:solidFill>
              <a:srgbClr val="B4C1C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168896" y="2468880"/>
            <a:ext cx="448056" cy="0"/>
          </a:xfrm>
          <a:prstGeom prst="line">
            <a:avLst/>
          </a:prstGeom>
          <a:noFill/>
          <a:ln w="17780">
            <a:solidFill>
              <a:srgbClr val="B4C1C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924544" y="2468880"/>
            <a:ext cx="448056" cy="0"/>
          </a:xfrm>
          <a:prstGeom prst="line">
            <a:avLst/>
          </a:prstGeom>
          <a:noFill/>
          <a:ln w="17780">
            <a:solidFill>
              <a:srgbClr val="B4C1C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5800" y="2057400"/>
            <a:ext cx="1097280" cy="1097280"/>
          </a:xfrm>
          <a:prstGeom prst="ellipse">
            <a:avLst/>
          </a:prstGeom>
          <a:solidFill>
            <a:srgbClr val="1F7A7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2368296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1208" y="331927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63B"/>
                </a:solidFill>
              </a:rPr>
              <a:t>Planning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2441448" y="2057400"/>
            <a:ext cx="1097280" cy="1097280"/>
          </a:xfrm>
          <a:prstGeom prst="ellipse">
            <a:avLst/>
          </a:prstGeom>
          <a:solidFill>
            <a:srgbClr val="1F7A7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6352" y="2368296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276856" y="331927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63B"/>
                </a:solidFill>
              </a:rPr>
              <a:t>Requirements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4197096" y="2057400"/>
            <a:ext cx="1097280" cy="1097280"/>
          </a:xfrm>
          <a:prstGeom prst="ellipse">
            <a:avLst/>
          </a:prstGeom>
          <a:solidFill>
            <a:srgbClr val="1F7A7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368296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032504" y="331927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63B"/>
                </a:solidFill>
              </a:rPr>
              <a:t>Configuration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952744" y="2057400"/>
            <a:ext cx="1097280" cy="1097280"/>
          </a:xfrm>
          <a:prstGeom prst="ellipse">
            <a:avLst/>
          </a:prstGeom>
          <a:solidFill>
            <a:srgbClr val="D3A6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2368296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788152" y="331927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63B"/>
                </a:solidFill>
              </a:rPr>
              <a:t>Testing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708392" y="2057400"/>
            <a:ext cx="1097280" cy="1097280"/>
          </a:xfrm>
          <a:prstGeom prst="ellipse">
            <a:avLst/>
          </a:prstGeom>
          <a:solidFill>
            <a:srgbClr val="D3A6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83296" y="2368296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543800" y="331927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63B"/>
                </a:solidFill>
              </a:rPr>
              <a:t>Training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464040" y="2057400"/>
            <a:ext cx="1097280" cy="1097280"/>
          </a:xfrm>
          <a:prstGeom prst="ellipse">
            <a:avLst/>
          </a:prstGeom>
          <a:solidFill>
            <a:srgbClr val="1326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38944" y="2368296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299448" y="331927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3263B"/>
                </a:solidFill>
              </a:rPr>
              <a:t>Deployment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1097280" y="4297680"/>
            <a:ext cx="9921240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25880" y="4498848"/>
            <a:ext cx="23317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3263B"/>
                </a:solidFill>
              </a:rPr>
              <a:t>Recommended rollout sequence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25880" y="4846320"/>
            <a:ext cx="93726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A76"/>
                </a:solidFill>
              </a:rPr>
              <a:t>1) Sales + Inventory + Procurement   →   2) Manufacturing + SCM   →   3) Finance + HRM   →   4) Advanced BI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6446520"/>
            <a:ext cx="11320272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680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Challenges &amp; Risk Controls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Main project risks must be managed before and after go-live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383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Nishat Textiles ERP Final Project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777240" y="1325880"/>
            <a:ext cx="1065276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62763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2318"/>
                </a:solidFill>
              </a:rPr>
              <a:t>Risk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162763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76"/>
                </a:solidFill>
              </a:rPr>
              <a:t>Control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2075688"/>
            <a:ext cx="10287000" cy="9144"/>
          </a:xfrm>
          <a:prstGeom prst="rect">
            <a:avLst/>
          </a:prstGeom>
          <a:solidFill>
            <a:srgbClr val="E3EAF1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121408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D2939"/>
                </a:solidFill>
              </a:rPr>
              <a:t>Resistance to change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2103120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3A64A"/>
                </a:solidFill>
              </a:rPr>
              <a:t>→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2121408"/>
            <a:ext cx="42519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9"/>
                </a:solidFill>
              </a:rPr>
              <a:t>Super users + role-based training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" y="2715768"/>
            <a:ext cx="10287000" cy="9144"/>
          </a:xfrm>
          <a:prstGeom prst="rect">
            <a:avLst/>
          </a:prstGeom>
          <a:solidFill>
            <a:srgbClr val="E3EAF1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2761488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D2939"/>
                </a:solidFill>
              </a:rPr>
              <a:t>Dirty master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49240" y="2743200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3A64A"/>
                </a:solidFill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2761488"/>
            <a:ext cx="42519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9"/>
                </a:solidFill>
              </a:rPr>
              <a:t>Cleansing + reconciliation checks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0120" y="3355848"/>
            <a:ext cx="10287000" cy="9144"/>
          </a:xfrm>
          <a:prstGeom prst="rect">
            <a:avLst/>
          </a:prstGeom>
          <a:solidFill>
            <a:srgbClr val="E3EAF1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3401568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D2939"/>
                </a:solidFill>
              </a:rPr>
              <a:t>Integration failure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49240" y="3383280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3A64A"/>
                </a:solidFill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3401568"/>
            <a:ext cx="42519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9"/>
                </a:solidFill>
              </a:rPr>
              <a:t>API monitoring + retry logic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0120" y="3995928"/>
            <a:ext cx="10287000" cy="9144"/>
          </a:xfrm>
          <a:prstGeom prst="rect">
            <a:avLst/>
          </a:prstGeom>
          <a:solidFill>
            <a:srgbClr val="E3EAF1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4041648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D2939"/>
                </a:solidFill>
              </a:rPr>
              <a:t>Scope creep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4023360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3A64A"/>
                </a:solidFill>
              </a:rPr>
              <a:t>→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09360" y="4041648"/>
            <a:ext cx="42519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9"/>
                </a:solidFill>
              </a:rPr>
              <a:t>Strict change control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60120" y="4636008"/>
            <a:ext cx="10287000" cy="9144"/>
          </a:xfrm>
          <a:prstGeom prst="rect">
            <a:avLst/>
          </a:prstGeom>
          <a:solidFill>
            <a:srgbClr val="E3EAF1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4681728"/>
            <a:ext cx="347472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D2939"/>
                </a:solidFill>
              </a:rPr>
              <a:t>Security exposure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4663440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3A64A"/>
                </a:solidFill>
              </a:rPr>
              <a:t>→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09360" y="4681728"/>
            <a:ext cx="42519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D2939"/>
                </a:solidFill>
              </a:rPr>
              <a:t>Role access + audit logs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965960" y="5925312"/>
            <a:ext cx="8229600" cy="384048"/>
          </a:xfrm>
          <a:prstGeom prst="roundRect">
            <a:avLst>
              <a:gd name="adj" fmla="val 21429"/>
            </a:avLst>
          </a:prstGeom>
          <a:solidFill>
            <a:srgbClr val="FFF3F2"/>
          </a:solidFill>
          <a:ln w="12700">
            <a:solidFill>
              <a:srgbClr val="F3B8B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94560" y="6035040"/>
            <a:ext cx="777240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B42318"/>
                </a:solidFill>
              </a:rPr>
              <a:t>Biggest threat: a technically live ERP that users still bypass with spreadsheets.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F7A76"/>
          </a:solidFill>
          <a:ln w="12700">
            <a:solidFill>
              <a:srgbClr val="1F7A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6446520"/>
            <a:ext cx="11320272" cy="0"/>
          </a:xfrm>
          <a:prstGeom prst="line">
            <a:avLst/>
          </a:prstGeom>
          <a:noFill/>
          <a:ln w="8890">
            <a:solidFill>
              <a:srgbClr val="D7DE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7680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6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21208" y="777240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Priority actions for a successful ERP transformation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292840" y="6510528"/>
            <a:ext cx="3474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</a:rPr>
              <a:t>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6510528"/>
            <a:ext cx="33832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4748B"/>
                </a:solidFill>
              </a:rPr>
              <a:t>Nishat Textiles ERP Final Project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48006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746504"/>
            <a:ext cx="566928" cy="566928"/>
          </a:xfrm>
          <a:prstGeom prst="ellipse">
            <a:avLst/>
          </a:prstGeom>
          <a:solidFill>
            <a:srgbClr val="1F7A7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97864" y="1874520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1673352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3263B"/>
                </a:solidFill>
              </a:rPr>
              <a:t>Govern master data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737360" y="2039112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</a:rPr>
              <a:t>Clean product, supplier, customer and warehouse records before migration.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309360" y="1417320"/>
            <a:ext cx="48006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1746504"/>
            <a:ext cx="566928" cy="566928"/>
          </a:xfrm>
          <a:prstGeom prst="ellipse">
            <a:avLst/>
          </a:prstGeom>
          <a:solidFill>
            <a:srgbClr val="D3A6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9984" y="1874520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69480" y="1673352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3263B"/>
                </a:solidFill>
              </a:rPr>
              <a:t>Integrate core flow first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269480" y="2039112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</a:rPr>
              <a:t>Prioritize sales, inventory and procurement for early operational impact.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777240" y="3246120"/>
            <a:ext cx="48006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3575304"/>
            <a:ext cx="566928" cy="566928"/>
          </a:xfrm>
          <a:prstGeom prst="ellipse">
            <a:avLst/>
          </a:prstGeom>
          <a:solidFill>
            <a:srgbClr val="1F7A7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97864" y="3703320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3502152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3263B"/>
                </a:solidFill>
              </a:rPr>
              <a:t>Monitor Shopify connector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737360" y="3867912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</a:rPr>
              <a:t>Use validation, retries and exception ownership for API reliability.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309360" y="3246120"/>
            <a:ext cx="48006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575304"/>
            <a:ext cx="566928" cy="566928"/>
          </a:xfrm>
          <a:prstGeom prst="ellipse">
            <a:avLst/>
          </a:prstGeom>
          <a:solidFill>
            <a:srgbClr val="D3A6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9984" y="3703320"/>
            <a:ext cx="18288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3502152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3263B"/>
                </a:solidFill>
              </a:rPr>
              <a:t>Train by role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7269480" y="3867912"/>
            <a:ext cx="347472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64748B"/>
                </a:solidFill>
              </a:rPr>
              <a:t>Build change champions across warehouse, finance, HR and management.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2423160" y="5376672"/>
            <a:ext cx="7315200" cy="530352"/>
          </a:xfrm>
          <a:prstGeom prst="roundRect">
            <a:avLst>
              <a:gd name="adj" fmla="val 17241"/>
            </a:avLst>
          </a:prstGeom>
          <a:solidFill>
            <a:srgbClr val="EAF2F4"/>
          </a:solidFill>
          <a:ln w="12700">
            <a:solidFill>
              <a:srgbClr val="C8D9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5559552"/>
            <a:ext cx="67665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63B"/>
                </a:solidFill>
              </a:rPr>
              <a:t>Measure success through process outcomes — not software installation.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2A"/>
          </a:solidFill>
          <a:ln w="12700">
            <a:solidFill>
              <a:srgbClr val="0B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3A64A"/>
          </a:solidFill>
          <a:ln w="12700">
            <a:solidFill>
              <a:srgbClr val="D3A6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685800"/>
            <a:ext cx="29260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" y="1298448"/>
            <a:ext cx="676656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D3A64A"/>
                </a:solidFill>
              </a:rPr>
              <a:t>A successful ERP turns fragmented operations into one controlled transaction flow.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4251960" cy="914400"/>
          </a:xfrm>
          <a:prstGeom prst="roundRect">
            <a:avLst>
              <a:gd name="adj" fmla="val 13000"/>
            </a:avLst>
          </a:prstGeom>
          <a:solidFill>
            <a:srgbClr val="17334E"/>
          </a:solidFill>
          <a:ln w="12700">
            <a:solidFill>
              <a:srgbClr val="2A49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313432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Stock 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679192"/>
            <a:ext cx="3794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5D1DD"/>
                </a:solidFill>
              </a:rPr>
              <a:t>Cleaner inventory truth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623560" y="2148840"/>
            <a:ext cx="4251960" cy="914400"/>
          </a:xfrm>
          <a:prstGeom prst="roundRect">
            <a:avLst>
              <a:gd name="adj" fmla="val 13000"/>
            </a:avLst>
          </a:prstGeom>
          <a:solidFill>
            <a:srgbClr val="17334E"/>
          </a:solidFill>
          <a:ln w="12700">
            <a:solidFill>
              <a:srgbClr val="2A49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2313432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Faster reporting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2679192"/>
            <a:ext cx="3794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5D1DD"/>
                </a:solidFill>
              </a:rPr>
              <a:t>Less manual consolidation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68680" y="3566160"/>
            <a:ext cx="4251960" cy="914400"/>
          </a:xfrm>
          <a:prstGeom prst="roundRect">
            <a:avLst>
              <a:gd name="adj" fmla="val 13000"/>
            </a:avLst>
          </a:prstGeom>
          <a:solidFill>
            <a:srgbClr val="17334E"/>
          </a:solidFill>
          <a:ln w="12700">
            <a:solidFill>
              <a:srgbClr val="2A49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730752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Better fulfilment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096512"/>
            <a:ext cx="3794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5D1DD"/>
                </a:solidFill>
              </a:rPr>
              <a:t>Lower cancellation risk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623560" y="3566160"/>
            <a:ext cx="4251960" cy="914400"/>
          </a:xfrm>
          <a:prstGeom prst="roundRect">
            <a:avLst>
              <a:gd name="adj" fmla="val 13000"/>
            </a:avLst>
          </a:prstGeom>
          <a:solidFill>
            <a:srgbClr val="17334E"/>
          </a:solidFill>
          <a:ln w="12700">
            <a:solidFill>
              <a:srgbClr val="2A49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3730752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Decision support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52160" y="4096512"/>
            <a:ext cx="379476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C5D1DD"/>
                </a:solidFill>
              </a:rPr>
              <a:t>Operational KPIs in one view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822960" y="5577840"/>
            <a:ext cx="10469880" cy="0"/>
          </a:xfrm>
          <a:prstGeom prst="line">
            <a:avLst/>
          </a:prstGeom>
          <a:noFill/>
          <a:ln w="12700">
            <a:solidFill>
              <a:srgbClr val="3550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77900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Thank you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44000" y="5870448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3A64A"/>
                </a:solidFill>
              </a:rPr>
              <a:t>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4932</Words>
  <Application>WPS Presentation</Application>
  <PresentationFormat>On-screen Show (16:9)</PresentationFormat>
  <Paragraphs>379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Aptos Display</vt:lpstr>
      <vt:lpstr>Segoe UI Variable Display</vt:lpstr>
      <vt:lpstr>Aptos Display</vt:lpstr>
      <vt:lpstr>Aptos Display</vt:lpstr>
      <vt:lpstr>Aptos</vt:lpstr>
      <vt:lpstr>Segoe UI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University of Central Punjab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Nishat Textiles ERP Solution Design</dc:title>
  <dc:creator>OpenAI</dc:creator>
  <dc:subject>ERP Solution Design and Business Analytics for Nishat Textiles</dc:subject>
  <cp:lastModifiedBy>Ali Irtza</cp:lastModifiedBy>
  <cp:revision>2</cp:revision>
  <dcterms:created xsi:type="dcterms:W3CDTF">2026-06-08T19:16:00Z</dcterms:created>
  <dcterms:modified xsi:type="dcterms:W3CDTF">2026-06-11T16:58:16Z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0CBB9766525147A8BD0F49B4A46077E9_12</vt:lpwstr>
  </property>
  <property fmtid="{D5CDD505-2E9C-101B-9397-08002B2CF9AE}" pid="3" name="KSOProductBuildVer">
    <vt:lpwstr>1033-12.1.0.26880</vt:lpwstr>
  </property>
</Properties>
</file>